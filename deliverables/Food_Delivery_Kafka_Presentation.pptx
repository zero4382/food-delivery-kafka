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d8819e46884afc" /><Relationship Type="http://schemas.openxmlformats.org/officeDocument/2006/relationships/extended-properties" Target="/docProps/app.xml" Id="Rcecee3b283884293" /><Relationship Type="http://schemas.openxmlformats.org/officeDocument/2006/relationships/officeDocument" Target="/ppt/presentation.xml" Id="R25b8d0b0b13146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503143ebd3488c"/>
  </p:sldMasterIdLst>
  <p:notesMasterIdLst>
    <p:notesMasterId xmlns:r="http://schemas.openxmlformats.org/officeDocument/2006/relationships" r:id="Rd04c3ff28e6345a2"/>
  </p:notesMasterIdLst>
  <p:sldIdLst>
    <p:sldId xmlns:r="http://schemas.openxmlformats.org/officeDocument/2006/relationships" id="256" r:id="R1925a38508484a3f"/>
    <p:sldId xmlns:r="http://schemas.openxmlformats.org/officeDocument/2006/relationships" id="257" r:id="R00afd8c3e142437c"/>
    <p:sldId xmlns:r="http://schemas.openxmlformats.org/officeDocument/2006/relationships" id="258" r:id="R154d1c3c351a45b5"/>
    <p:sldId xmlns:r="http://schemas.openxmlformats.org/officeDocument/2006/relationships" id="259" r:id="Rf1516e1ec7f14ce8"/>
    <p:sldId xmlns:r="http://schemas.openxmlformats.org/officeDocument/2006/relationships" id="260" r:id="R2338b2087eaf4fe4"/>
    <p:sldId xmlns:r="http://schemas.openxmlformats.org/officeDocument/2006/relationships" id="261" r:id="Rcc4f055f6881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9ea48afb14777" /><Relationship Type="http://schemas.openxmlformats.org/officeDocument/2006/relationships/slideMaster" Target="/ppt/slideMasters/slideMaster1.xml" Id="Rb8503143ebd3488c" /><Relationship Type="http://schemas.openxmlformats.org/officeDocument/2006/relationships/notesMaster" Target="/ppt/notesMasters/notesMaster1.xml" Id="Rd04c3ff28e6345a2" /><Relationship Type="http://schemas.openxmlformats.org/officeDocument/2006/relationships/presProps" Target="/ppt/presProps.xml" Id="Rce4446cb7a534bc3" /><Relationship Type="http://schemas.openxmlformats.org/officeDocument/2006/relationships/tableStyles" Target="/ppt/tableStyles.xml" Id="Rfc6055eb17994ff1" /><Relationship Type="http://schemas.openxmlformats.org/officeDocument/2006/relationships/slide" Target="/ppt/slides/slide1.xml" Id="R1925a38508484a3f" /><Relationship Type="http://schemas.openxmlformats.org/officeDocument/2006/relationships/slide" Target="/ppt/slides/slide2.xml" Id="R00afd8c3e142437c" /><Relationship Type="http://schemas.openxmlformats.org/officeDocument/2006/relationships/slide" Target="/ppt/slides/slide3.xml" Id="R154d1c3c351a45b5" /><Relationship Type="http://schemas.openxmlformats.org/officeDocument/2006/relationships/slide" Target="/ppt/slides/slide4.xml" Id="Rf1516e1ec7f14ce8" /><Relationship Type="http://schemas.openxmlformats.org/officeDocument/2006/relationships/slide" Target="/ppt/slides/slide5.xml" Id="R2338b2087eaf4fe4" /><Relationship Type="http://schemas.openxmlformats.org/officeDocument/2006/relationships/slide" Target="/ppt/slides/slide6.xml" Id="Rcc4f055f6881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4d2ed51b148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7dd0c62814325" /><Relationship Type="http://schemas.openxmlformats.org/officeDocument/2006/relationships/notesMaster" Target="/ppt/notesMasters/notesMaster1.xml" Id="Rada40ec4fa88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d225d9e1a54b62" /><Relationship Type="http://schemas.openxmlformats.org/officeDocument/2006/relationships/notesMaster" Target="/ppt/notesMasters/notesMaster1.xml" Id="R7a82b2eb460a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26b18293a646d4" /><Relationship Type="http://schemas.openxmlformats.org/officeDocument/2006/relationships/notesMaster" Target="/ppt/notesMasters/notesMaster1.xml" Id="R67e03574c4d1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1143971124f74" /><Relationship Type="http://schemas.openxmlformats.org/officeDocument/2006/relationships/notesMaster" Target="/ppt/notesMasters/notesMaster1.xml" Id="R3877ae1ad59e45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2f96917544290" /><Relationship Type="http://schemas.openxmlformats.org/officeDocument/2006/relationships/notesMaster" Target="/ppt/notesMasters/notesMaster1.xml" Id="Rdebd0c308fc148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5bd0a366484fd8" /><Relationship Type="http://schemas.openxmlformats.org/officeDocument/2006/relationships/notesMaster" Target="/ppt/notesMasters/notesMaster1.xml" Id="R6e1c56d96e3f42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Hsu Shwe Yaung. Introduce the project title and the three members. Keep this slide under 30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Hsu Shwe Yaung. Explain the simple order flow. An order changes from PLACED to PREPARING and then READY. Customer, rider, and notification services all need the update. Source: approved Proposal 2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Hsu Shwe Yaung. Explain the pain point from the approved proposal. If the restaurant calls the Rider Service directly while it is offline, the rider can miss the READY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Soe Thura Lwin. Explain Kafka as a mailbox. The Order Service puts one event into the order-updates topic. Customer, rider, and notification services read the event independently. Apache Kafka Quickstart: https://kafka.apache.org/quickstart/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Soe Thura Lwin. Show the GitHub project and the architecture diagram. The API accepts PLACED, PREPARING, or READY. Docker Compose starts Kafka and every service. Source: project README and approved Proposal 2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Khaing Zaw Lin. Run the demo from the README. Stop rider-consumer, publish Order 202 as READY, show Customer and Notification logs, restart rider-consumer, and show 'Rider action: Pick up Order 202'. End with the result statement.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3aafe413741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61534dc1a48b7" /><Relationship Type="http://schemas.openxmlformats.org/officeDocument/2006/relationships/slideLayout" Target="/ppt/slideLayouts/slideLayout1.xml" Id="Raac188face294f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188face294f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8d48320ef4669" /><Relationship Type="http://schemas.openxmlformats.org/officeDocument/2006/relationships/notesSlide" Target="/ppt/notesSlides/notesSlide1.xml" Id="Rde6d3251c5e747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f87436c614fdc" /><Relationship Type="http://schemas.openxmlformats.org/officeDocument/2006/relationships/notesSlide" Target="/ppt/notesSlides/notesSlide2.xml" Id="R553a1f1e39b046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ecd17ed8b43f1" /><Relationship Type="http://schemas.openxmlformats.org/officeDocument/2006/relationships/notesSlide" Target="/ppt/notesSlides/notesSlide3.xml" Id="R9568543efe564d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5e785d044bb4" /><Relationship Type="http://schemas.openxmlformats.org/officeDocument/2006/relationships/notesSlide" Target="/ppt/notesSlides/notesSlide4.xml" Id="Re9ea557857814d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d2ae781934418" /><Relationship Type="http://schemas.openxmlformats.org/officeDocument/2006/relationships/notesSlide" Target="/ppt/notesSlides/notesSlide5.xml" Id="Rfb3efc47e2514e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f2cddebda48d0" /><Relationship Type="http://schemas.openxmlformats.org/officeDocument/2006/relationships/notesSlide" Target="/ppt/notesSlides/notesSlide6.xml" Id="R7de04bbd4a234f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992C85-3741-43F6-844E-708E2758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095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Real-Time Food Delivery Updates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Using Apache Kafka</a:t>
            </a:r>
          </a:p>
        </p:txBody>
      </p:sp>
      <p:sp>
        <p:nvSpPr>
          <p:cNvPr id="2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658B9EB5-A557-4F81-A218-2EBD0B05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D3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D39F"/>
                </a:solidFill>
                <a:latin typeface="Helvetica Neue"/>
                <a:ea typeface="Helvetica Neue"/>
                <a:cs typeface="Helvetica Neue"/>
              </a:rPr>
              <a:t>Project 02  Tech Update</a:t>
            </a:r>
          </a:p>
        </p:txBody>
      </p:sp>
      <p:sp>
        <p:nvSpPr>
          <p:cNvPr id="3" name="cover-members">
            <a:extLst xmlns:a="http://schemas.openxmlformats.org/drawingml/2006/main">
              <a:ext uri="{FF2B5EF4-FFF2-40B4-BE49-F238E27FC236}">
                <a16:creationId xmlns:a16="http://schemas.microsoft.com/office/drawing/2014/main" id="{BAE4B0F9-0952-4C84-89E6-8EB333FE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Hsu Shwe Yaung  6611665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Soe Thura Lwin  6540062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Khaing Zaw Lin  6611924</a:t>
            </a:r>
          </a:p>
        </p:txBody>
      </p:sp>
      <p:sp>
        <p:nvSpPr>
          <p:cNvPr id="4" name="cover-kafka">
            <a:extLst xmlns:a="http://schemas.openxmlformats.org/drawingml/2006/main">
              <a:ext uri="{FF2B5EF4-FFF2-40B4-BE49-F238E27FC236}">
                <a16:creationId xmlns:a16="http://schemas.microsoft.com/office/drawing/2014/main" id="{0DD7C91C-CEF5-410E-874B-E22F4D9F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FB3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KAFKA</a:t>
            </a:r>
          </a:p>
        </p:txBody>
      </p:sp>
    </p:spTree>
    <p:extLst>
      <p:ext uri="{BB962C8B-B14F-4D97-AF65-F5344CB8AC3E}">
        <p14:creationId xmlns:p14="http://schemas.microsoft.com/office/powerpoint/2010/main" val="1962014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A3C543-64EE-46DC-AF5F-6304D276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Food Delivery Scenario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AEF468-AA4C-43C3-B0BB-DA86742A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One order status must reach several services</a:t>
            </a:r>
          </a:p>
        </p:txBody>
      </p:sp>
      <p:sp>
        <p:nvSpPr>
          <p:cNvPr id="3" name="scenario-order">
            <a:extLst xmlns:a="http://schemas.openxmlformats.org/drawingml/2006/main">
              <a:ext uri="{FF2B5EF4-FFF2-40B4-BE49-F238E27FC236}">
                <a16:creationId xmlns:a16="http://schemas.microsoft.com/office/drawing/2014/main" id="{1D6A2F90-73BD-4BC4-A171-FDCB9CAA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2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Customer places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Order 101</a:t>
            </a:r>
          </a:p>
        </p:txBody>
      </p:sp>
      <p:sp>
        <p:nvSpPr>
          <p:cNvPr id="4" name="scenario-restaurant">
            <a:extLst xmlns:a="http://schemas.openxmlformats.org/drawingml/2006/main">
              <a:ext uri="{FF2B5EF4-FFF2-40B4-BE49-F238E27FC236}">
                <a16:creationId xmlns:a16="http://schemas.microsoft.com/office/drawing/2014/main" id="{C547B98B-4695-4C39-804C-2DFA4BD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Restaurant changes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status to READY</a:t>
            </a:r>
          </a:p>
        </p:txBody>
      </p:sp>
      <p:sp>
        <p:nvSpPr>
          <p:cNvPr id="5" name="scenario-rider">
            <a:extLst xmlns:a="http://schemas.openxmlformats.org/drawingml/2006/main">
              <a:ext uri="{FF2B5EF4-FFF2-40B4-BE49-F238E27FC236}">
                <a16:creationId xmlns:a16="http://schemas.microsoft.com/office/drawing/2014/main" id="{4966401B-1F9F-4C52-A4EC-AA3E3658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1F4F1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Rider needs the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READY update</a:t>
            </a:r>
          </a:p>
        </p:txBody>
      </p:sp>
      <p:sp>
        <p:nvSpPr>
          <p:cNvPr id="6" name="scenario-customer">
            <a:extLst xmlns:a="http://schemas.openxmlformats.org/drawingml/2006/main">
              <a:ext uri="{FF2B5EF4-FFF2-40B4-BE49-F238E27FC236}">
                <a16:creationId xmlns:a16="http://schemas.microsoft.com/office/drawing/2014/main" id="{05F64700-73CF-41D0-99DC-D38DEC3C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DDE2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Customer receives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 notification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3095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10250" y="3095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572500" y="3095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sp>
        <p:nvSpPr>
          <p:cNvPr id="10" name="scenario-key">
            <a:extLst xmlns:a="http://schemas.openxmlformats.org/drawingml/2006/main">
              <a:ext uri="{FF2B5EF4-FFF2-40B4-BE49-F238E27FC236}">
                <a16:creationId xmlns:a16="http://schemas.microsoft.com/office/drawing/2014/main" id="{206B5389-88CD-4689-8015-3BE54EC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The same update must arrive quickly and reliably.</a:t>
            </a:r>
          </a:p>
        </p:txBody>
      </p:sp>
      <p:sp>
        <p:nvSpPr>
          <p:cNvPr id="1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BCC839F5-023A-4C01-9A79-7C8DE392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3546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021906-A558-4C1E-89CD-DD9C12B1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Pain Point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E2AD82-C012-4947-9B82-C21CCFF1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Direct communication can miss an update when one service is unavailable</a:t>
            </a:r>
          </a:p>
        </p:txBody>
      </p:sp>
      <p:sp>
        <p:nvSpPr>
          <p:cNvPr id="3" name="pain-restaurant">
            <a:extLst xmlns:a="http://schemas.openxmlformats.org/drawingml/2006/main">
              <a:ext uri="{FF2B5EF4-FFF2-40B4-BE49-F238E27FC236}">
                <a16:creationId xmlns:a16="http://schemas.microsoft.com/office/drawing/2014/main" id="{83094FF3-037B-4E3B-A3CE-C8B7CE8B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Restaurant Service</a:t>
            </a:r>
          </a:p>
          <a:p xmlns:a="http://schemas.openxmlformats.org/drawingml/2006/main">
            <a:pPr algn="ctr">
              <a:def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Order 101 is READY</a:t>
            </a:r>
          </a:p>
        </p:txBody>
      </p:sp>
      <p:sp>
        <p:nvSpPr>
          <p:cNvPr id="4" name="pain-rider">
            <a:extLst xmlns:a="http://schemas.openxmlformats.org/drawingml/2006/main">
              <a:ext uri="{FF2B5EF4-FFF2-40B4-BE49-F238E27FC236}">
                <a16:creationId xmlns:a16="http://schemas.microsoft.com/office/drawing/2014/main" id="{FE2A6F2C-0B64-4F7B-9F59-9251E961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23813">
            <a:solidFill>
              <a:srgbClr val="C94C4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rPr>
              <a:t>Rider Service</a:t>
            </a:r>
          </a:p>
          <a:p xmlns:a="http://schemas.openxmlformats.org/drawingml/2006/main">
            <a:pPr algn="ctr">
              <a:defRPr sz="2025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rPr>
              <a:t>TEMPORARILY OFFLINE</a:t>
            </a:r>
          </a:p>
        </p:txBody>
      </p:sp>
      <p:cxnSp>
        <p:nvCxnSpPr>
          <p:cNvPr id="1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95750" y="3190875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4C4C"/>
            </a:solidFill>
            <a:prstDash val="solid"/>
            <a:tailEnd type="triangle" w="sm" len="sm"/>
          </a:ln>
        </p:spPr>
      </p:cxnSp>
      <p:sp>
        <p:nvSpPr>
          <p:cNvPr id="6" name="pain-message">
            <a:extLst xmlns:a="http://schemas.openxmlformats.org/drawingml/2006/main">
              <a:ext uri="{FF2B5EF4-FFF2-40B4-BE49-F238E27FC236}">
                <a16:creationId xmlns:a16="http://schemas.microsoft.com/office/drawing/2014/main" id="{6EED3DBC-F076-4472-AB08-ABC2EBA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19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rPr>
              <a:t>Update can be lost</a:t>
            </a:r>
          </a:p>
        </p:txBody>
      </p:sp>
      <p:sp>
        <p:nvSpPr>
          <p:cNvPr id="7" name="pain-result">
            <a:extLst xmlns:a="http://schemas.openxmlformats.org/drawingml/2006/main">
              <a:ext uri="{FF2B5EF4-FFF2-40B4-BE49-F238E27FC236}">
                <a16:creationId xmlns:a16="http://schemas.microsoft.com/office/drawing/2014/main" id="{1B963A33-F2A8-4EAB-B21E-646E9B1C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9368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The rider may not know that the food is ready for pickup.</a:t>
            </a:r>
          </a:p>
        </p:txBody>
      </p:sp>
      <p:sp>
        <p:nvSpPr>
          <p:cNvPr id="8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399DEC05-194B-4FBC-A6FC-60278EEF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251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3F8EAB-3294-4645-9033-F7FB902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Apache Kafka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2FE526-4F2A-4428-97AD-500D0244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Kafka keeps order events and lets each service read them independently</a:t>
            </a:r>
          </a:p>
        </p:txBody>
      </p:sp>
      <p:sp>
        <p:nvSpPr>
          <p:cNvPr id="3" name="kafka-order">
            <a:extLst xmlns:a="http://schemas.openxmlformats.org/drawingml/2006/main">
              <a:ext uri="{FF2B5EF4-FFF2-40B4-BE49-F238E27FC236}">
                <a16:creationId xmlns:a16="http://schemas.microsoft.com/office/drawing/2014/main" id="{3770CBF8-70E6-4924-A0AE-D7FF2817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2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Order Service</a:t>
            </a:r>
          </a:p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publishes event</a:t>
            </a:r>
          </a:p>
        </p:txBody>
      </p:sp>
      <p:sp>
        <p:nvSpPr>
          <p:cNvPr id="4" name="kafka-center">
            <a:extLst xmlns:a="http://schemas.openxmlformats.org/drawingml/2006/main">
              <a:ext uri="{FF2B5EF4-FFF2-40B4-BE49-F238E27FC236}">
                <a16:creationId xmlns:a16="http://schemas.microsoft.com/office/drawing/2014/main" id="{C5F5A644-7205-4309-9CDC-2298371F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23813">
            <a:solidFill>
              <a:srgbClr val="D86F0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APACHE KAFKA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order-updates topic</a:t>
            </a:r>
          </a:p>
        </p:txBody>
      </p:sp>
      <p:sp>
        <p:nvSpPr>
          <p:cNvPr id="5" name="kafka-customer">
            <a:extLst xmlns:a="http://schemas.openxmlformats.org/drawingml/2006/main">
              <a:ext uri="{FF2B5EF4-FFF2-40B4-BE49-F238E27FC236}">
                <a16:creationId xmlns:a16="http://schemas.microsoft.com/office/drawing/2014/main" id="{6B8F0C2C-8AC6-481F-8965-F722E282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DDE2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Customer</a:t>
            </a:r>
          </a:p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6" name="kafka-rider">
            <a:extLst xmlns:a="http://schemas.openxmlformats.org/drawingml/2006/main">
              <a:ext uri="{FF2B5EF4-FFF2-40B4-BE49-F238E27FC236}">
                <a16:creationId xmlns:a16="http://schemas.microsoft.com/office/drawing/2014/main" id="{11B3492C-ABE2-4E6C-85F6-B197AB8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1F4F1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Rider</a:t>
            </a:r>
          </a:p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7" name="kafka-notification">
            <a:extLst xmlns:a="http://schemas.openxmlformats.org/drawingml/2006/main">
              <a:ext uri="{FF2B5EF4-FFF2-40B4-BE49-F238E27FC236}">
                <a16:creationId xmlns:a16="http://schemas.microsoft.com/office/drawing/2014/main" id="{A3DBCD82-6E1C-4E2A-9D1C-EF45A9A7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2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Notification</a:t>
            </a:r>
          </a:p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33337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429500" y="2119313"/>
            <a:ext cx="1619250" cy="1214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29500" y="3333750"/>
            <a:ext cx="161925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3333750"/>
            <a:ext cx="1619250" cy="14525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12" name="kafka-analogy">
            <a:extLst xmlns:a="http://schemas.openxmlformats.org/drawingml/2006/main">
              <a:ext uri="{FF2B5EF4-FFF2-40B4-BE49-F238E27FC236}">
                <a16:creationId xmlns:a16="http://schemas.microsoft.com/office/drawing/2014/main" id="{7B876449-671A-4224-AA6E-75E3B74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Think of Kafka as a mailbox that keeps each order update.</a:t>
            </a:r>
          </a:p>
        </p:txBody>
      </p:sp>
      <p:sp>
        <p:nvSpPr>
          <p:cNvPr id="1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56015F82-4A9B-472F-B987-4EDC7D52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3349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4E5BB5-E3C0-4F17-905A-7A9A5739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Implementation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E05C62-3886-41E2-B1B1-F234E9C9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A small runnable project with one API, one Kafka topic, and three consumers</a:t>
            </a:r>
          </a:p>
        </p:txBody>
      </p:sp>
      <p:sp>
        <p:nvSpPr>
          <p:cNvPr id="3" name="implementation-flow">
            <a:extLst xmlns:a="http://schemas.openxmlformats.org/drawingml/2006/main">
              <a:ext uri="{FF2B5EF4-FFF2-40B4-BE49-F238E27FC236}">
                <a16:creationId xmlns:a16="http://schemas.microsoft.com/office/drawing/2014/main" id="{4585E152-A9CB-4E8A-95F6-06D92103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429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AFC8DD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POST /orders/101/status</a:t>
            </a:r>
          </a:p>
          <a:p xmlns:a="http://schemas.openxmlformats.org/drawingml/2006/main">
            <a:pPr algn="ctr">
              <a:defRPr sz="19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{ status: READY }</a:t>
            </a:r>
          </a:p>
        </p:txBody>
      </p:sp>
      <p:sp>
        <p:nvSpPr>
          <p:cNvPr id="4" name="implementation-files">
            <a:extLst xmlns:a="http://schemas.openxmlformats.org/drawingml/2006/main">
              <a:ext uri="{FF2B5EF4-FFF2-40B4-BE49-F238E27FC236}">
                <a16:creationId xmlns:a16="http://schemas.microsoft.com/office/drawing/2014/main" id="{D9822D6C-C6A9-4FF4-A219-F973C23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209550" tIns="171450" rIns="2095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Runnable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Order Service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Customer Consumer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Rider Consumer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Notification Consumer</a:t>
            </a:r>
          </a:p>
        </p:txBody>
      </p:sp>
      <p:sp>
        <p:nvSpPr>
          <p:cNvPr id="5" name="implementation-tools">
            <a:extLst xmlns:a="http://schemas.openxmlformats.org/drawingml/2006/main">
              <a:ext uri="{FF2B5EF4-FFF2-40B4-BE49-F238E27FC236}">
                <a16:creationId xmlns:a16="http://schemas.microsoft.com/office/drawing/2014/main" id="{13AD42CC-365D-4FD8-A410-78BDFCEF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1F4F1"/>
          </a:solidFill>
          <a:ln xmlns:a="http://schemas.openxmlformats.org/drawingml/2006/main" w="14288">
            <a:solidFill>
              <a:srgbClr val="2A9D8F"/>
            </a:solidFill>
            <a:prstDash val="solid"/>
          </a:ln>
        </p:spPr>
        <p:txBody>
          <a:bodyPr xmlns:a="http://schemas.openxmlformats.org/drawingml/2006/main" wrap="square" lIns="209550" tIns="171450" rIns="2095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Apache Kafka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Node.js + Express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KafkaJS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Docker Compose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curl / Postman</a:t>
            </a:r>
          </a:p>
        </p:txBody>
      </p:sp>
      <p:sp>
        <p:nvSpPr>
          <p:cNvPr id="6" name="implementation-command">
            <a:extLst xmlns:a="http://schemas.openxmlformats.org/drawingml/2006/main">
              <a:ext uri="{FF2B5EF4-FFF2-40B4-BE49-F238E27FC236}">
                <a16:creationId xmlns:a16="http://schemas.microsoft.com/office/drawing/2014/main" id="{BAAD985B-B473-4930-9B35-CB09D9F6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81625"/>
            <a:ext cx="685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A3A"/>
          </a:solidFill>
          <a:ln xmlns:a="http://schemas.openxmlformats.org/drawingml/2006/main" w="0">
            <a:solidFill>
              <a:srgbClr val="172A3A"/>
            </a:solidFill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docker compose up --build</a:t>
            </a:r>
          </a:p>
        </p:txBody>
      </p:sp>
      <p:sp>
        <p:nvSpPr>
          <p:cNvPr id="7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7613235-450A-4383-8636-6A837892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54507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FB213E-00A6-4976-A04B-9813545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61290B-3D64-4E3C-80AD-BF13807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Kafka delivers the READY event after the Rider Service restarts</a:t>
            </a:r>
          </a:p>
        </p:txBody>
      </p:sp>
      <p:sp>
        <p:nvSpPr>
          <p:cNvPr id="3" name="demo-step-1">
            <a:extLst xmlns:a="http://schemas.openxmlformats.org/drawingml/2006/main">
              <a:ext uri="{FF2B5EF4-FFF2-40B4-BE49-F238E27FC236}">
                <a16:creationId xmlns:a16="http://schemas.microsoft.com/office/drawing/2014/main" id="{8C9A1F89-4C88-434E-B846-ACDFB529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19050">
            <a:solidFill>
              <a:srgbClr val="C94C4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Stop Rider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Rider Service goes offline</a:t>
            </a:r>
          </a:p>
        </p:txBody>
      </p:sp>
      <p:sp>
        <p:nvSpPr>
          <p:cNvPr id="4" name="demo-step-2">
            <a:extLst xmlns:a="http://schemas.openxmlformats.org/drawingml/2006/main">
              <a:ext uri="{FF2B5EF4-FFF2-40B4-BE49-F238E27FC236}">
                <a16:creationId xmlns:a16="http://schemas.microsoft.com/office/drawing/2014/main" id="{3B436BE3-86E9-4C59-9364-DCF67BA7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Publish READY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Order 202 changes status</a:t>
            </a:r>
          </a:p>
        </p:txBody>
      </p:sp>
      <p:sp>
        <p:nvSpPr>
          <p:cNvPr id="5" name="demo-step-3">
            <a:extLst xmlns:a="http://schemas.openxmlformats.org/drawingml/2006/main">
              <a:ext uri="{FF2B5EF4-FFF2-40B4-BE49-F238E27FC236}">
                <a16:creationId xmlns:a16="http://schemas.microsoft.com/office/drawing/2014/main" id="{77054674-F67E-4D9C-B372-2196A048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8FB6D5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Others receive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Customer and Notification continue</a:t>
            </a:r>
          </a:p>
        </p:txBody>
      </p:sp>
      <p:sp>
        <p:nvSpPr>
          <p:cNvPr id="6" name="demo-step-4">
            <a:extLst xmlns:a="http://schemas.openxmlformats.org/drawingml/2006/main">
              <a:ext uri="{FF2B5EF4-FFF2-40B4-BE49-F238E27FC236}">
                <a16:creationId xmlns:a16="http://schemas.microsoft.com/office/drawing/2014/main" id="{1B056F4D-5399-44EC-B5FB-CBF070C9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52625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1F4F1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Restart Rider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Rider Service reconnects</a:t>
            </a:r>
          </a:p>
        </p:txBody>
      </p:sp>
      <p:sp>
        <p:nvSpPr>
          <p:cNvPr id="7" name="demo-step-5">
            <a:extLst xmlns:a="http://schemas.openxmlformats.org/drawingml/2006/main">
              <a:ext uri="{FF2B5EF4-FFF2-40B4-BE49-F238E27FC236}">
                <a16:creationId xmlns:a16="http://schemas.microsoft.com/office/drawing/2014/main" id="{FD445AE1-BB56-4945-A213-A6ADCFC1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52625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Rider receives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Pick up Order 202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76500" y="30718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819650" y="30718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62800" y="30718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05950" y="30718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975"/>
            </a:solidFill>
            <a:prstDash val="solid"/>
            <a:tailEnd type="triangle" w="sm" len="sm"/>
          </a:ln>
        </p:spPr>
      </p:cxnSp>
      <p:sp>
        <p:nvSpPr>
          <p:cNvPr id="12" name="demo-result">
            <a:extLst xmlns:a="http://schemas.openxmlformats.org/drawingml/2006/main">
              <a:ext uri="{FF2B5EF4-FFF2-40B4-BE49-F238E27FC236}">
                <a16:creationId xmlns:a16="http://schemas.microsoft.com/office/drawing/2014/main" id="{279AEEEB-3277-4899-8465-565A65C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72A3A"/>
          </a:solidFill>
          <a:ln xmlns:a="http://schemas.openxmlformats.org/drawingml/2006/main" w="0">
            <a:solidFill>
              <a:srgbClr val="172A3A"/>
            </a:solidFill>
          </a:ln>
        </p:spPr>
        <p:txBody>
          <a:bodyPr xmlns:a="http://schemas.openxmlformats.org/drawingml/2006/main" wrap="square" lIns="76200" tIns="76200" rIns="76200" bIns="76200" anchor="ctr">
            <a:normAutofit fontScale="9790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Result: a temporary service outage does not lose the order update.</a:t>
            </a:r>
          </a:p>
        </p:txBody>
      </p:sp>
      <p:sp>
        <p:nvSpPr>
          <p:cNvPr id="13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6427E5AA-71BA-4F16-8BD4-BD2C8AAE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97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88537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2026-09-22T11:55:50.7120000Z</dcterms:created>
  <dcterms:modified xsi:type="dcterms:W3CDTF">2026-09-22T11:55:50.7120000Z</dcterms:modified>
</coreProperties>
</file>